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188720"/>
            <a:ext cx="45720" cy="2560320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选题背景与研究问题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宏观压力 → 行业危机 → REITs破局 → 问题提出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宏观压力：从贸易战到债务暴雷的逻辑链条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2011680" cy="45720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49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5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749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贸易战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7498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0515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中美贸易摩擦加剧，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出口承压，经济增速放缓，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制造业投资意愿下降。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4028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68880" y="64008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640080"/>
            <a:ext cx="2011680" cy="4572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3" name="Text 11"/>
          <p:cNvSpPr/>
          <p:nvPr/>
        </p:nvSpPr>
        <p:spPr>
          <a:xfrm>
            <a:off x="2542032" y="749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79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749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疫情冲击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7498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78608" y="10515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经济骤然停摆，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居民收入预期恶化，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消费信心遭受重创。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3484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64008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640080"/>
            <a:ext cx="201168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4736592" y="749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749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房住不炒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7498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2016至今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73168" y="10515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中央定调住房回归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居住属性，投机需求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被持续打压。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62940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0" y="64008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640080"/>
            <a:ext cx="201168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6931152" y="749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④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23760" y="749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三条红线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38160" y="7498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8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67728" y="10515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房企融资端收紧：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剔除预收款资产负债率、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净负债率、现金短债比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三项硬指标划定生死线。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288036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2880360"/>
            <a:ext cx="201168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" y="2944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29443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泡沫破裂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4048" y="32186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房价下行、地价下跌，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房企资产端与负债端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同时承压，估值体系崩塌。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24028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468880" y="288036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468880" y="2880360"/>
            <a:ext cx="201168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2542032" y="2944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834640" y="29443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需求萎缩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578608" y="32186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销售面积和销售额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持续下滑，库存积压，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回款周期大幅延长。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43484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663440" y="288036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2880360"/>
            <a:ext cx="2011680" cy="457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5" name="Text 43"/>
          <p:cNvSpPr/>
          <p:nvPr/>
        </p:nvSpPr>
        <p:spPr>
          <a:xfrm>
            <a:off x="4736592" y="2944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⑦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0" y="29443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债务暴雷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773168" y="321868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恒大、碧桂园等头部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房企相继违约，信用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危机向全行业蔓延。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858000" y="2880360"/>
            <a:ext cx="1920240" cy="137160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949440" y="29443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商业地产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949440" y="32004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房地产全行业信用崩塌，商业地产亦无法独善其身。重资产模式下的“资产沉淀-负债攀升-盈利承压”恶性循环加速恶化，企业急需资产退出通道。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5800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40080" y="44988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七重压力层层传导，最终指向同一个问题：商业地产企业如何从重资产困局中突围？REITs正是在这一背景下被推到台前。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行业现状：危机的深度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011680" cy="109728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31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77.27%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enter" pitchFamily="34" charset="0"/>
                <a:ea typeface="center" pitchFamily="34" charset="-122"/>
                <a:cs typeface="center" pitchFamily="34" charset="-120"/>
              </a:rPr>
              <a:t>大悦城控股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enter" pitchFamily="34" charset="0"/>
                <a:ea typeface="center" pitchFamily="34" charset="-122"/>
                <a:cs typeface="center" pitchFamily="34" charset="-120"/>
              </a:rPr>
              <a:t>资产负债率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68880" y="640080"/>
            <a:ext cx="2011680" cy="109728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731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70.81%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6032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enter" pitchFamily="34" charset="0"/>
                <a:ea typeface="center" pitchFamily="34" charset="-122"/>
                <a:cs typeface="center" pitchFamily="34" charset="-120"/>
              </a:rPr>
              <a:t>新城控股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enter" pitchFamily="34" charset="0"/>
                <a:ea typeface="center" pitchFamily="34" charset="-122"/>
                <a:cs typeface="center" pitchFamily="34" charset="-120"/>
              </a:rPr>
              <a:t>资产负债率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640080"/>
            <a:ext cx="2011680" cy="109728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731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079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60.23%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enter" pitchFamily="34" charset="0"/>
                <a:ea typeface="center" pitchFamily="34" charset="-122"/>
                <a:cs typeface="center" pitchFamily="34" charset="-120"/>
              </a:rPr>
              <a:t>龙湖集团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enter" pitchFamily="34" charset="0"/>
                <a:ea typeface="center" pitchFamily="34" charset="-122"/>
                <a:cs typeface="center" pitchFamily="34" charset="-120"/>
              </a:rPr>
              <a:t>净负债率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58000" y="640080"/>
            <a:ext cx="2011680" cy="109728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731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05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14.2%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4944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enter" pitchFamily="34" charset="0"/>
                <a:ea typeface="center" pitchFamily="34" charset="-122"/>
                <a:cs typeface="center" pitchFamily="34" charset="-120"/>
              </a:rPr>
              <a:t>华润置地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center" pitchFamily="34" charset="0"/>
                <a:ea typeface="center" pitchFamily="34" charset="-122"/>
                <a:cs typeface="center" pitchFamily="34" charset="-120"/>
              </a:rPr>
              <a:t>开发毛利率(2024)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1920240"/>
            <a:ext cx="8595360" cy="137160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0116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危机的根源在于商业地产的商业模式本身。
</a:t>
            </a:r>
            <a:endParaRPr lang="en-US" sz="NaN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与住宅开发“拿地-开发-销售”的快速周转模式不同，商业地产需要长期持有并持续运营，投资回收期通常长达10至15年。企业将巨额资本沉淀在投资性房地产中，既推高了资产负债率，又严重压缩了再投资能力。
</a:t>
            </a:r>
            <a:endParaRPr lang="en-US" sz="NaN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以华润置地为例：2020年末投资性房地产2,363亿元，占总资产超30%。开发毛利率从2019年的50.3%一路下滑，至2024年仅剩14.2%，六年跌去36个百分点。2025年小幅回升至15.5%，但距离高位相去甚远。
</a:t>
            </a:r>
            <a:endParaRPr lang="en-US" sz="NaN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“资产沉淀 → 负债攀升 → 盈利承压 → 再投资能力下降”的恶性循环，在前述七重宏观压力下加速恶化。</a:t>
            </a:r>
            <a:endParaRPr lang="en-US" sz="NaN" dirty="0"/>
          </a:p>
        </p:txBody>
      </p:sp>
      <p:sp>
        <p:nvSpPr>
          <p:cNvPr id="18" name="Shape 16"/>
          <p:cNvSpPr/>
          <p:nvPr/>
        </p:nvSpPr>
        <p:spPr>
          <a:xfrm>
            <a:off x="274320" y="3474720"/>
            <a:ext cx="8595360" cy="14630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5661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轻资产转型：从“资产持有者”到“资产运营者”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B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资产运营的核心在于将“资产持有者”与“资产运营者”的角色分离。国际经验已经证明这条路径的可行性：美国西蒙地产通过REITs架构实现“开发-运营-退出-再投资”的资本循环；新加坡凯德集团构建“私募基金+REITs”双轮驱动，负债率从78%降至约42%。
</a:t>
            </a:r>
            <a:endParaRPr lang="en-US" sz="NaN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在中国，华润置地开创的“商管平台分拆上市+REITs发行”双平台模式，成为行业标杆。华润万象生活2025年营收180.22亿元，经常性利润占比首次突破50%达51.8%。</a:t>
            </a:r>
            <a:endParaRPr lang="en-US" sz="NaN" dirty="0"/>
          </a:p>
        </p:txBody>
      </p:sp>
      <p:sp>
        <p:nvSpPr>
          <p:cNvPr id="21" name="Text 19"/>
          <p:cNvSpPr/>
          <p:nvPr/>
        </p:nvSpPr>
        <p:spPr>
          <a:xfrm>
            <a:off x="457200" y="502920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各公司2025年年报；华润置地年度报告（2019-2025）；Wind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政策破局：REITs打开资产退出通道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6583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当债务暴雷堵死了传统的融资和销售回款路径，REITs成为商业地产企业为数不多的资产退出通道。中国的REITs制度正是在这一压力下加速推进。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9728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36576" cy="1097280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07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5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2020-2022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1307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试点启动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37360" y="1618488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2020年4月证监会与发改委联合发文，首批聚焦基础设施。2021年6月首批9只上市，募资314亿元。完成制度框架搭建，但商业地产尚未纳入。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68880"/>
            <a:ext cx="36576" cy="109728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42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07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2023-2024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2542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消费扩容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2852928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年3月证监会将购物中心等消费基础设施纳入REITs底层资产，商业地产通道正式打开。2024年成为消费REITs元年：华润商业REIT（69.23亿）、大悦城商业REIT（33亿）、印力消费REIT相继上市，全年消费类REITs发行超200亿元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703320"/>
            <a:ext cx="36576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764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2025至今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776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常态化发行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37360" y="4087368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发行制度从审批制转向注册制，市场进入常态化阶段。截至2025年3月，公募REITs总规模突破2,100亿元，上市产品58只。华夏凯德商业REIT（22.87亿）上市，成为首单外资消费REITs。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983480"/>
            <a:ext cx="8046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证监会、发改委政策文件；Wind；各REITs招募说明书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问题提出：REITs如何驱动轻资产转型？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6400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从贸易战到债务暴雷的七重压力，将商业地产行业逼到了转型的临界点。REITs政策的加速推进打开了一条出路，但三个关键问题亟待回答：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9728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36576" cy="1097280"/>
          </a:xfrm>
          <a:prstGeom prst="rect">
            <a:avLst/>
          </a:prstGeom>
          <a:solidFill>
            <a:srgbClr val="0056A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893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5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28930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74520" y="128930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从重资产持有到轻资产运营，企业需要经历哪些关键的组织变革和资本运作？华润的“双平台”模式与凯德的“资本闭环”模式，各自的内在机制和适用条件是什么？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68880"/>
            <a:ext cx="36576" cy="109728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2374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79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52374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74520" y="252374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REITs发行对企业的资产负债表、利润表和现金流量表产生了哪些具体影响？如何构建一个系统性的评估框架，从资产结构、收入质量、盈利能力、现金流和资本效率等多维度全面衡量转型效果？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solidFill>
            <a:srgbClr val="F2F4F7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703320"/>
            <a:ext cx="36576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58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75818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74520" y="375818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并非所有引入REITs的企业都能成功转型。苏宁易购通过类REITs和ABS融资后负债率从65%升至91%，“出表不降杠杆”的失败案例提示：什么条件下REITs才能真正推动转型，而非沦为财务工具？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983480"/>
            <a:ext cx="8229600" cy="1371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5001768"/>
            <a:ext cx="8046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本研究以华润置地/万象生活（主案例）、凯德集团（验证案例）、苏宁易购（反面案例）三家企业为样本，系统回答上述问题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2026-06-16T14:53:09Z</dcterms:created>
  <dcterms:modified xsi:type="dcterms:W3CDTF">2026-06-16T14:53:09Z</dcterms:modified>
</cp:coreProperties>
</file>