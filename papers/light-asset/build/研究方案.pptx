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45720" cy="256032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研究方案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研究问题与假设 → 案例选择 → 分析框架 → 数据与方法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研究问题与假设（3.1）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核心问题：REITs如何驱动商业地产企业从重资产持有模式向轻资产运营模式转型？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驱动因素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234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行业环境变化、企业战略选择和金融工具创新如何形成共振？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18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16184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转型路径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6184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REITs发行前后的组织变革、业务重构和运营模式调整有哪些关键环节？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0253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" y="20025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财务效应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00253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从资产结构、收入结构、盈利质量和资本效率等维度，转型的财务效应如何？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3865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" y="2386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运营效应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3865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从管理规模、运营效率和品牌价值三维度，转型的运营效应如何？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7706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" y="2770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边界条件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277063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通过主案例与验证案例、反面案例对比，成功转型的边界条件是什么？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383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五个假设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2651760" cy="4572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57600"/>
            <a:ext cx="36576" cy="45720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94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H₁ 收入结构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877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REITs发行与经常性收入占比正相关。管理费收入等经常性收入占比应显著提升。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46120" y="3657600"/>
            <a:ext cx="2651760" cy="4572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3657600"/>
            <a:ext cx="36576" cy="45720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694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H₂ 杠杆水平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877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轻资产转型程度与净负债率负相关。REITs通过资产出表和资本回收降低财务杠杆。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35040" y="3657600"/>
            <a:ext cx="2651760" cy="4572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3657600"/>
            <a:ext cx="36576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3694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H₃ 运营能力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3877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运营能力成熟度是转型成功的必要条件。出租率、收缴率、外拓占比与财务效应正相关。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4251960"/>
            <a:ext cx="2651760" cy="4572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251960"/>
            <a:ext cx="36576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288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H₄ 交易结构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" y="4471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真实出售结构的资产负债率改善效果显著优于售后租回结构（Hardin &amp; Wu, 2010）。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46120" y="4251960"/>
            <a:ext cx="2651760" cy="4572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4251960"/>
            <a:ext cx="36576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4288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H₅ 资本循环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83280" y="4471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具备培育-成熟-退出-再投资完整循环的企业，转型效应更持久。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案例选择与依据（3.2）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采用Yin（2018）案例选择原则，从典型性、启示性和数据可得性三个维度，对七家候选企业综合比较后选定三个案例。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4572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70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主案例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1170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深度分析 → 构建理论框架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华润置地 / 华润万象生活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783080"/>
            <a:ext cx="2560320" cy="9144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87452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转型路径完整清晰：重资产开发商→商管分拆上市(2020)→REITs发行(2024)→双平台协同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双平台模式学术创新性：商管平台+REITs平台协同国内首创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数据完整：港交所上市公司，信息披露规范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行业标杆：中国商业地产龙头，示范效应显著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51560"/>
            <a:ext cx="2788920" cy="457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170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验证案例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0" y="1170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跨国对比 → 检验外部效度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310128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凯德集团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1783080"/>
            <a:ext cx="2560320" cy="9144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187452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国际标杆：亚洲最大不动产集团之一，最早实践私募基金+REITs闭环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资本闭环完整：开发型基金-持有型基金-REITs三层架构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中国市场深度参与：深耕超30年，旗下CLCT和华夏凯德REIT涉及中国商业地产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与华润可比：同中有异，有利于验证结论普适性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27889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1170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反面案例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32320" y="1170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对比分析 → 验证边界条件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36208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苏宁易购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6208" y="1783080"/>
            <a:ext cx="2560320" cy="91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187452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典型失败案例：2015年起多次发行类REITs/ABS累计超100亿元，负债率从约65%攀升至约91%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检验H4和H5：多采用售后租回，缺乏完整培育-退出-再投资循环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数据可得：A股上市公司，财务数据和发行文件公开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分析框架构建（3.3）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三层总体框架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411480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8961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 REITs驱动：制度功能（资产出表/资本退出/价值发现）↔企业战略需求（降杠杆/提效率/可持续盈利）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 路径选择：分拆上市+REITs发行双平台（华润） vs 私募基金+REITs资本闭环（凯德）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 效应评估：财务效应（五维度） + 运营效应（三维度）</a:t>
            </a:r>
            <a:endParaRPr lang="en-US" sz="NaN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五阶段转型路径模型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0" cy="4114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36576" cy="41148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682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3682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重资产持有期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368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重资产/高杠杆/低周转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26243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4114800" cy="4114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07208"/>
            <a:ext cx="36576" cy="41148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437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843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资产剥离与分拆期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28437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业务重构/组织调整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11680" y="3099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82696"/>
            <a:ext cx="4114800" cy="4114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82696"/>
            <a:ext cx="36576" cy="41148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192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319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轻资产平台建设期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0" y="33192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管理输出/品牌扩张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11680" y="35753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758184"/>
            <a:ext cx="4114800" cy="4114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758184"/>
            <a:ext cx="36576" cy="41148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794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3794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REITs资本退出期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资产出表/资本回收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011680" y="40507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33672"/>
            <a:ext cx="4114800" cy="4114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233672"/>
            <a:ext cx="36576" cy="41148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2702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4270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资本闭环循环期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86000" y="4270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双平台协同/再投资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46320" y="5943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五维度财务效应评估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822960"/>
            <a:ext cx="3931920" cy="18288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0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资产轻量化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8961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投资性房地产占比/资产周转率/总资产增速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9200" y="12252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收入结构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1225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经常性收入占比/管理费收入占比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29200" y="1554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盈利质量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0" y="1554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经常性利润占比/毛利率/净利率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0" y="18836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现金流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18836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经营现金流/净利润比率/自由现金流/资本支出占比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029200" y="2212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资本效率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58000" y="2212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ROE/ROA/资产负债率/净负债率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846320" y="27889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假设检验框架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3017520"/>
            <a:ext cx="3931920" cy="16916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029200" y="3090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假设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486400" y="30906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检验指标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583680" y="30906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406640" y="3090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预期结果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029200" y="3264408"/>
            <a:ext cx="3566160" cy="9144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0" y="3337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H₁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86400" y="3337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经常性收入占比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583680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利润表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406640" y="3337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华润、凯德↑；苏宁↔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029200" y="3547872"/>
            <a:ext cx="3566160" cy="457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1" name="Text 59"/>
          <p:cNvSpPr/>
          <p:nvPr/>
        </p:nvSpPr>
        <p:spPr>
          <a:xfrm>
            <a:off x="5029200" y="3593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H₂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486400" y="35935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净负债率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583680" y="3593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资产负债表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406640" y="35935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华润、凯德↓；苏宁↑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029200" y="3803904"/>
            <a:ext cx="3566160" cy="457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6" name="Text 64"/>
          <p:cNvSpPr/>
          <p:nvPr/>
        </p:nvSpPr>
        <p:spPr>
          <a:xfrm>
            <a:off x="5029200" y="384962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H₃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86400" y="3849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运营能力与财务效应相关性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583680" y="3849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运营+财务数据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406640" y="38496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正相关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029200" y="4059936"/>
            <a:ext cx="3566160" cy="457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1" name="Text 69"/>
          <p:cNvSpPr/>
          <p:nvPr/>
        </p:nvSpPr>
        <p:spPr>
          <a:xfrm>
            <a:off x="5029200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H₄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86400" y="41056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交易结构与负债率改善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583680" y="41056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REITs文件+财报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7406640" y="41056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真实出售&gt;售后租回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029200" y="4315968"/>
            <a:ext cx="3566160" cy="457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6" name="Text 74"/>
          <p:cNvSpPr/>
          <p:nvPr/>
        </p:nvSpPr>
        <p:spPr>
          <a:xfrm>
            <a:off x="5029200" y="4361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H₅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86400" y="4361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资本循环完整性与持续性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583680" y="4361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案例追踪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7406640" y="43616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完整循环更持久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数据来源、研究方法与拟提观点（3.4-3.6）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4206240" cy="19202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713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数据来源（3.4）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全部来自公开披露资料，遵循公开性、多源交叉验证、时效性（2020-2025）三项原则。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华润：港交所年报(2020-2025)+华润商业REIT招募说明书+公司公告+Wind/戴德梁行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凯德：新交所年报(2020-2025)+CLCT年报+华夏凯德REIT发行文件+新加坡金管局数据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苏宁：深交所年报(2015-2023)+ABS发行文件+财经媒体深度报道</a:t>
            </a:r>
            <a:endParaRPr lang="en-US" sz="NaN" dirty="0"/>
          </a:p>
        </p:txBody>
      </p:sp>
      <p:sp>
        <p:nvSpPr>
          <p:cNvPr id="7" name="Shape 5"/>
          <p:cNvSpPr/>
          <p:nvPr/>
        </p:nvSpPr>
        <p:spPr>
          <a:xfrm>
            <a:off x="4754880" y="640080"/>
            <a:ext cx="4114800" cy="19202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713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研究方法（3.5）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987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文献研究法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35040" y="9875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贯穿全过程：框架构建+不足识别+工具借鉴。来源：WoS/CNKI/万方/行业报告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案例研究法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Yin(2018)多案例设计：华润纵向深度+凯德横向对比+苏宁失败验证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37760" y="17556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财务穿透分析法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1755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五维度2020-2025时间序列，识别拐点和时滞效应。异常数据交叉验证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0" y="2139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对比分析法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21396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三个层面：转型前后纵向+华润vs凯德横向+企业与行业基准对比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8503920" cy="2011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81635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拟提出的主要观点（3.6）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（1）转型路径：REITs驱动轻资产转型可归纳为“能力建设→平台独立→规模扩张→资本退出→协同优化”五阶段模型。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（2）财务效应：表现为收入结构优化、盈利质量改善、现金流改善和杠杆率下降四个方面。运营效应：表现为管理规模扩张、运营效率提升和品牌价值实现。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（3）五个边界条件：REITs制度环境成熟度、底层资产运营质量、运营管理能力成熟度、资本循环通道畅通性、战略清晰度和持续性。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（4）核心机制：“三重驱动、双重闭环”——三重驱动指行业环境变化、企业战略调整、金融工具创新；双重闭环指资本闭环和能力闭环的相互促进。</a:t>
            </a:r>
            <a:endParaRPr lang="en-US" sz="NaN" dirty="0"/>
          </a:p>
        </p:txBody>
      </p:sp>
      <p:sp>
        <p:nvSpPr>
          <p:cNvPr id="20" name="Shape 18"/>
          <p:cNvSpPr/>
          <p:nvPr/>
        </p:nvSpPr>
        <p:spPr>
          <a:xfrm>
            <a:off x="365760" y="4828032"/>
            <a:ext cx="8503920" cy="274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85546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应用价值：为企业提供两条可复制路径+五阶段诊断模型，为投资者提供五维度评估工具，为监管层提供制度优化方向。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2026-06-16T14:13:40Z</dcterms:created>
  <dcterms:modified xsi:type="dcterms:W3CDTF">2026-06-16T14:13:40Z</dcterms:modified>
</cp:coreProperties>
</file>